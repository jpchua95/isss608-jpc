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1" i="0" u="none" strike="noStrike" baseline="0" dirty="0">
                <a:effectLst/>
              </a:rPr>
              <a:t>NON-OIL MERCHANDISE TRADE BY</a:t>
            </a:r>
            <a:br>
              <a:rPr lang="en-US" sz="1862" b="0" i="0" u="none" strike="noStrike" baseline="0" dirty="0"/>
            </a:br>
            <a:r>
              <a:rPr lang="en-US" sz="1862" b="1" i="0" u="none" strike="noStrike" baseline="0" dirty="0">
                <a:effectLst/>
              </a:rPr>
              <a:t>MAJOR COMMODITY SECTIONS, 2024</a:t>
            </a:r>
            <a:endParaRPr lang="en-SG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Category 3</c:v>
                </c:pt>
                <c:pt idx="1">
                  <c:v>Category 6</c:v>
                </c:pt>
                <c:pt idx="2">
                  <c:v>Category 1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2</c:v>
                </c:pt>
                <c:pt idx="2">
                  <c:v>4.3</c:v>
                </c:pt>
                <c:pt idx="3">
                  <c:v>4.5</c:v>
                </c:pt>
                <c:pt idx="4">
                  <c:v>2.2999999999999998</c:v>
                </c:pt>
                <c:pt idx="5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98-4FF5-A972-7A372636B4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Category 3</c:v>
                </c:pt>
                <c:pt idx="1">
                  <c:v>Category 6</c:v>
                </c:pt>
                <c:pt idx="2">
                  <c:v>Category 1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1.8</c:v>
                </c:pt>
                <c:pt idx="1">
                  <c:v>2.2000000000000002</c:v>
                </c:pt>
                <c:pt idx="2">
                  <c:v>2.4</c:v>
                </c:pt>
                <c:pt idx="3">
                  <c:v>2.8</c:v>
                </c:pt>
                <c:pt idx="4">
                  <c:v>3.3</c:v>
                </c:pt>
                <c:pt idx="5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98-4FF5-A972-7A372636B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49905279"/>
        <c:axId val="580975903"/>
      </c:barChart>
      <c:catAx>
        <c:axId val="749905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0975903"/>
        <c:crosses val="autoZero"/>
        <c:auto val="1"/>
        <c:lblAlgn val="ctr"/>
        <c:lblOffset val="100"/>
        <c:noMultiLvlLbl val="0"/>
      </c:catAx>
      <c:valAx>
        <c:axId val="5809759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9905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Non-Oil Domestic Exports, 2024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70.400000000000006</c:v>
                </c:pt>
                <c:pt idx="1">
                  <c:v>44.4</c:v>
                </c:pt>
                <c:pt idx="2">
                  <c:v>28.6</c:v>
                </c:pt>
                <c:pt idx="3">
                  <c:v>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0A-44AA-B79B-242991E153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1" i="0" u="none" strike="noStrike" baseline="0" dirty="0">
                <a:effectLst/>
              </a:rPr>
              <a:t>MAJOR TRADING PARTNERS</a:t>
            </a:r>
            <a:br>
              <a:rPr lang="en-US" sz="1862" b="0" i="0" u="none" strike="noStrike" baseline="0" dirty="0"/>
            </a:br>
            <a:r>
              <a:rPr lang="en-US" sz="1862" b="1" i="0" u="none" strike="noStrike" baseline="0" dirty="0">
                <a:effectLst/>
              </a:rPr>
              <a:t>FOR TRADE IN SERVICES, 2023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91B-4CFA-9777-5313681CDE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2910623"/>
        <c:axId val="582910143"/>
      </c:scatterChart>
      <c:valAx>
        <c:axId val="582910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dirty="0"/>
                  <a:t>Imports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910143"/>
        <c:crosses val="autoZero"/>
        <c:crossBetween val="midCat"/>
      </c:valAx>
      <c:valAx>
        <c:axId val="582910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 dirty="0"/>
                  <a:t>Exports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9106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5F8B-5925-B505-5502-D7F609DDF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D1390-5EF3-D1D1-3C8E-7FBCCCE2B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A1E2F-1003-D8B3-5A52-59AFBE22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2ECC4-E254-368C-DEA6-5CCA6692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5F934-FC26-6E8B-1BCC-B05AE036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54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53A5-CA92-D777-0D18-41079D0D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CBBDF-C5AF-B64E-B807-DD04B1C6C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5B829-EEC0-0A95-AE00-89116A51E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4B551-0E67-5187-2312-B425F2F8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4A0A3-A9F0-01A9-2024-27061E43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324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8015-3A5C-CA45-5C58-866DDD94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2E785-E414-3830-69EB-0627EB01F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F0D13-873D-2CC9-FE23-84CCC480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E7425-8F85-80C9-C2BD-E73F5619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D83B1-5554-F2DB-6527-7CCADD5F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716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0F49-6760-A94B-14E6-EB8ECE98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020B6-2E92-B91B-A501-A414AFB68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A4CFF-EA35-B4EA-2D24-FA176D431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04D99-C8FA-D7A9-5473-166669B8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A7683-8D3A-9261-92DE-5F3515953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8F55A-650B-E734-7323-BC827977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011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171D-B3D7-E903-9BFE-02C8AEBC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E94C7-AD7C-DA16-4BBF-36D00E42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8A7D1-999D-E804-9554-4945FFE8B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F29C9-1AB3-ACE7-C8CC-7F79B75D8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15E4C-F0D2-6915-CDB4-997710E29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22A193-CE9B-A93B-3405-060F20DF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659D4-DC22-B0A4-0F0E-0F848D91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EE4B4-6A94-19E0-33CA-85008128C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875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68F8-1F26-6C19-AD8F-F7435131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33400-3C61-90F2-9598-14F80C83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EEABF-9418-3959-527D-667D41C5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7A620-943D-2366-99BF-D9558C11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609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84151-8D23-2673-A7E1-B2275F25B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CC8AF-AF06-9F41-4F8A-8F0A4CAC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9B80A-5C5C-CD6E-1786-C1D0564C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518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1842-864F-133E-35DD-8378CB52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205A2-D8B6-9214-AB20-FB310284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4F7E2-6312-6166-9D83-A0C0C97CA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F2366-9514-54EC-0DB8-5A799BC9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753F8-3613-FBF0-410D-A208E3F7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0E37D-9F5B-4CE7-DE39-CFDCD8BEA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213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CFA5-5D2B-6DE6-A2D9-86692BDF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0B8DE-CA86-938D-0401-F565FBD8F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81C6F-5188-59D2-C398-8B8BBE086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DF31D-4362-C63C-0555-02642819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6AF01-7C6B-BD10-9747-DFD7F4F2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6879D-988C-D65A-D567-7031304C4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718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106F-A913-955D-C484-5AF23B1A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09606-CFC9-1C31-D763-B53900F08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DE721-666C-7690-3FA0-FBB31103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A83FA-5D4F-141A-27C3-FDDDFF7A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ABFAB-12F3-858E-8833-91F60CC6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040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3530E-1920-AF4B-669D-3552E5FC2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67EE8-EF28-D1BC-7BA0-38A45B8CA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1AF19-C490-47E9-DA3A-BFDA98CC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05A6E-CAA9-DABB-0DC7-0A19F9AB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CDE05-325E-422F-ABB3-DE6E8D8A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8103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55757B-5D6B-36F4-F2C1-9414DD8FD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9F3A3-0FBD-DBDF-7E92-9EB1C278B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D7D17-B3CF-0C07-3E53-6F5426C3C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B0B2E-3762-49A4-BD14-166E39EC131C}" type="datetimeFigureOut">
              <a:rPr lang="en-SG" smtClean="0"/>
              <a:t>9/3/2025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36487-67E5-1D10-2C97-D997C55D9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6B924-2B1C-FF56-A067-3B6F56FB4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DACD6-DB90-4EC4-8335-E60BAFF613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200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0B63319-6A81-9AC0-E502-EA15D4379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116924"/>
              </p:ext>
            </p:extLst>
          </p:nvPr>
        </p:nvGraphicFramePr>
        <p:xfrm>
          <a:off x="2032000" y="8212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" name="Graphic 9" descr="Badge 1 outline">
            <a:extLst>
              <a:ext uri="{FF2B5EF4-FFF2-40B4-BE49-F238E27FC236}">
                <a16:creationId xmlns:a16="http://schemas.microsoft.com/office/drawing/2014/main" id="{CEB1B5E6-11F1-6CA4-A7AA-9F554626C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0500" y="1652058"/>
            <a:ext cx="431800" cy="431800"/>
          </a:xfrm>
          <a:prstGeom prst="rect">
            <a:avLst/>
          </a:prstGeom>
        </p:spPr>
      </p:pic>
      <p:pic>
        <p:nvPicPr>
          <p:cNvPr id="12" name="Graphic 11" descr="Badge outline">
            <a:extLst>
              <a:ext uri="{FF2B5EF4-FFF2-40B4-BE49-F238E27FC236}">
                <a16:creationId xmlns:a16="http://schemas.microsoft.com/office/drawing/2014/main" id="{D61D330F-7A5C-CBB7-F6B7-80398ED917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6500" y="2302933"/>
            <a:ext cx="431800" cy="431800"/>
          </a:xfrm>
          <a:prstGeom prst="rect">
            <a:avLst/>
          </a:prstGeom>
        </p:spPr>
      </p:pic>
      <p:pic>
        <p:nvPicPr>
          <p:cNvPr id="14" name="Graphic 13" descr="Badge 3 outline">
            <a:extLst>
              <a:ext uri="{FF2B5EF4-FFF2-40B4-BE49-F238E27FC236}">
                <a16:creationId xmlns:a16="http://schemas.microsoft.com/office/drawing/2014/main" id="{3C1FA58D-32C1-4453-016D-B77E3D66A4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2300" y="2882899"/>
            <a:ext cx="431800" cy="431800"/>
          </a:xfrm>
          <a:prstGeom prst="rect">
            <a:avLst/>
          </a:prstGeom>
        </p:spPr>
      </p:pic>
      <p:pic>
        <p:nvPicPr>
          <p:cNvPr id="15" name="Graphic 14" descr="Badge 1 outline">
            <a:extLst>
              <a:ext uri="{FF2B5EF4-FFF2-40B4-BE49-F238E27FC236}">
                <a16:creationId xmlns:a16="http://schemas.microsoft.com/office/drawing/2014/main" id="{D52ABF8A-4BA4-F88E-C825-29D649C5F7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6400" y="3098799"/>
            <a:ext cx="431800" cy="431800"/>
          </a:xfrm>
          <a:prstGeom prst="rect">
            <a:avLst/>
          </a:prstGeom>
        </p:spPr>
      </p:pic>
      <p:pic>
        <p:nvPicPr>
          <p:cNvPr id="16" name="Graphic 15" descr="Badge outline">
            <a:extLst>
              <a:ext uri="{FF2B5EF4-FFF2-40B4-BE49-F238E27FC236}">
                <a16:creationId xmlns:a16="http://schemas.microsoft.com/office/drawing/2014/main" id="{3EB1934A-79CE-2506-215F-23191F0F19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66200" y="3778250"/>
            <a:ext cx="431800" cy="431800"/>
          </a:xfrm>
          <a:prstGeom prst="rect">
            <a:avLst/>
          </a:prstGeom>
        </p:spPr>
      </p:pic>
      <p:pic>
        <p:nvPicPr>
          <p:cNvPr id="17" name="Graphic 16" descr="Badge 3 outline">
            <a:extLst>
              <a:ext uri="{FF2B5EF4-FFF2-40B4-BE49-F238E27FC236}">
                <a16:creationId xmlns:a16="http://schemas.microsoft.com/office/drawing/2014/main" id="{0BD39B54-09BC-D9A4-2122-95020EBE20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74000" y="50800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97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B47A918-7FCE-9A0A-52C4-5B7745AA8E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106525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773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F0689DB-B9CA-E424-78AC-83BBD6D22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416265"/>
              </p:ext>
            </p:extLst>
          </p:nvPr>
        </p:nvGraphicFramePr>
        <p:xfrm>
          <a:off x="838200" y="1253331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1AD6C21-611D-DA28-D775-953F359B4E18}"/>
              </a:ext>
            </a:extLst>
          </p:cNvPr>
          <p:cNvSpPr/>
          <p:nvPr/>
        </p:nvSpPr>
        <p:spPr>
          <a:xfrm>
            <a:off x="1588957" y="5604669"/>
            <a:ext cx="9653666" cy="151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87DA46-7A4B-9CF1-14EA-054EE9BABAFD}"/>
              </a:ext>
            </a:extLst>
          </p:cNvPr>
          <p:cNvSpPr/>
          <p:nvPr/>
        </p:nvSpPr>
        <p:spPr>
          <a:xfrm>
            <a:off x="2098623" y="5361906"/>
            <a:ext cx="164892" cy="592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B130D-B1FE-B322-BA8E-80832B720AED}"/>
              </a:ext>
            </a:extLst>
          </p:cNvPr>
          <p:cNvSpPr txBox="1"/>
          <p:nvPr/>
        </p:nvSpPr>
        <p:spPr>
          <a:xfrm>
            <a:off x="1588956" y="6160957"/>
            <a:ext cx="965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2019		      2020		          2021		         2022		               2023 </a:t>
            </a:r>
          </a:p>
        </p:txBody>
      </p:sp>
    </p:spTree>
    <p:extLst>
      <p:ext uri="{BB962C8B-B14F-4D97-AF65-F5344CB8AC3E}">
        <p14:creationId xmlns:p14="http://schemas.microsoft.com/office/powerpoint/2010/main" val="215568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B04F0C89A71141A0CCEA307E3896C7" ma:contentTypeVersion="15" ma:contentTypeDescription="Create a new document." ma:contentTypeScope="" ma:versionID="7a82c773bedb5ede75328b2f6a78c3ed">
  <xsd:schema xmlns:xsd="http://www.w3.org/2001/XMLSchema" xmlns:xs="http://www.w3.org/2001/XMLSchema" xmlns:p="http://schemas.microsoft.com/office/2006/metadata/properties" xmlns:ns3="615e5b51-9c72-4483-be22-a14e95b20c92" xmlns:ns4="81027353-0c01-4653-a8f8-d9ca7e35dc4c" targetNamespace="http://schemas.microsoft.com/office/2006/metadata/properties" ma:root="true" ma:fieldsID="e6d3effad44e0c7877305e65c5e5eea3" ns3:_="" ns4:_="">
    <xsd:import namespace="615e5b51-9c72-4483-be22-a14e95b20c92"/>
    <xsd:import namespace="81027353-0c01-4653-a8f8-d9ca7e35dc4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OCR" minOccurs="0"/>
                <xsd:element ref="ns4:MediaServiceDateTaken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5e5b51-9c72-4483-be22-a14e95b20c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27353-0c01-4653-a8f8-d9ca7e35dc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027353-0c01-4653-a8f8-d9ca7e35dc4c" xsi:nil="true"/>
  </documentManagement>
</p:properties>
</file>

<file path=customXml/itemProps1.xml><?xml version="1.0" encoding="utf-8"?>
<ds:datastoreItem xmlns:ds="http://schemas.openxmlformats.org/officeDocument/2006/customXml" ds:itemID="{D6CD1B56-386D-4625-8EA3-DA084D26BD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5e5b51-9c72-4483-be22-a14e95b20c92"/>
    <ds:schemaRef ds:uri="81027353-0c01-4653-a8f8-d9ca7e35dc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5437B7-1BC2-4604-9ECF-B5F9A4B784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00DC7C-71C7-439E-96FA-1D170C01BE9C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81027353-0c01-4653-a8f8-d9ca7e35dc4c"/>
    <ds:schemaRef ds:uri="http://schemas.microsoft.com/office/infopath/2007/PartnerControls"/>
    <ds:schemaRef ds:uri="615e5b51-9c72-4483-be22-a14e95b20c9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CHUA Jia Peng</dc:creator>
  <cp:lastModifiedBy>CHUA Jia Peng</cp:lastModifiedBy>
  <cp:revision>1</cp:revision>
  <dcterms:created xsi:type="dcterms:W3CDTF">2025-03-09T10:46:18Z</dcterms:created>
  <dcterms:modified xsi:type="dcterms:W3CDTF">2025-03-09T11:31:28Z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0x0101001BB04F0C89A71141A0CCEA307E3896C7</vt:lpwstr>
  </property>
</Properties>
</file>